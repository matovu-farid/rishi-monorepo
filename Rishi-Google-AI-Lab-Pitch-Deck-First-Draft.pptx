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629EC7"/>
                </a:solidFill>
                <a:latin typeface="Aptos"/>
              </a:rPr>
              <a:t>RISHI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38528"/>
            <a:ext cx="704088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800" b="1">
                <a:solidFill>
                  <a:srgbClr val="F6F0E0"/>
                </a:solidFill>
                <a:latin typeface="Aptos Display"/>
              </a:rPr>
              <a:t>A teacher
inside every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94760"/>
            <a:ext cx="5852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>
                <a:solidFill>
                  <a:srgbClr val="A4B9C6"/>
                </a:solidFill>
                <a:latin typeface="Aptos"/>
              </a:rPr>
              <a:t>Make dense material easier to understand through explanations, conversation, reading, and listening.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893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29EC7"/>
                </a:solidFill>
                <a:latin typeface="Aptos"/>
              </a:rPr>
              <a:t>Google AI Lab application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A book often assumes the reader already has a teacher.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5778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6F0E0"/>
                </a:solidFill>
                <a:latin typeface="Aptos"/>
              </a:rPr>
              <a:t>Dense material can be difficult to follow, break down, remember, and discuss.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17520"/>
            <a:ext cx="539496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4B9C6"/>
                </a:solidFill>
                <a:latin typeface="Aptos"/>
              </a:rPr>
              <a:t>When a learner gets stuck, progress often stops—not because they lack motivation, but because the explanation is missing.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74519"/>
            <a:ext cx="4343400" cy="182880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075688"/>
            <a:ext cx="3886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496312"/>
            <a:ext cx="38862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What if the guidance you need lived inside the book?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480560"/>
            <a:ext cx="6949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4B9C6"/>
                </a:solidFill>
                <a:latin typeface="Aptos"/>
              </a:rPr>
              <a:t>Learning should not stop at the moment a reader gets stuck.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A teacher-like assistant, inside the reading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4572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F6F0E0"/>
                </a:solidFill>
                <a:latin typeface="Aptos"/>
              </a:rPr>
              <a:t>Ask for an explanation. Break down a difficult passage. Explore the meaning in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629EC7"/>
                </a:solidFill>
                <a:latin typeface="Aptos"/>
              </a:rPr>
              <a:t>Rishi turns the moment of confusion into a next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44805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A4B9C6"/>
                </a:solidFill>
                <a:latin typeface="Aptos"/>
              </a:rPr>
              <a:t>The goal is simple: make learning easier for anyone with a book.</a:t>
            </a:r>
          </a:p>
        </p:txBody>
      </p:sp>
      <p:pic>
        <p:nvPicPr>
          <p:cNvPr id="11" name="Picture 10" descr="Simulator Screenshot - iPhone 12 Pro Max - 2026-07-25 at 12.19.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200753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TWO WAYS TO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See the material. Hear the material. Keep moving.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74920" cy="228600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21408"/>
            <a:ext cx="4617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46177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Follow the page, highlight ideas, search the text, and stay in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074920" cy="228600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21408"/>
            <a:ext cx="4617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B99358"/>
                </a:solidFill>
                <a:latin typeface="Aptos"/>
              </a:rPr>
              <a:t>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42032"/>
            <a:ext cx="46177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Use text-to-speech to hear the material while reading, walking, commuting, or reviewing.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7772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4B9C6"/>
                </a:solidFill>
                <a:latin typeface="Aptos"/>
              </a:rPr>
              <a:t>Rishi makes learning more flexible by bringing visual and auditory modes together.</a:t>
            </a:r>
          </a:p>
        </p:txBody>
      </p:sp>
      <p:pic>
        <p:nvPicPr>
          <p:cNvPr id="15" name="Picture 14" descr="Simulator Screenshot - iPhone 12 Pro Max - 2026-07-25 at 12.18.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502920"/>
            <a:ext cx="245130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CONTEXTUAL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The assistant is grounded in the book you are reading.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47548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F6F0E0"/>
                </a:solidFill>
                <a:latin typeface="Aptos"/>
              </a:rPr>
              <a:t>Rishi is designed to help a reader move from “I’m stuck” to “I understand” without leaving the material.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4937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A4B9C6"/>
                </a:solidFill>
                <a:latin typeface="Aptos"/>
              </a:rPr>
              <a:t>This is not about replacing teachers. It is about making guidance available in the moment a learner needs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6634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6F0E0"/>
                </a:solidFill>
                <a:latin typeface="Aptos"/>
              </a:defRPr>
            </a:pPr>
            <a:r>
              <a:t>Book-specific conversations</a:t>
            </a:r>
          </a:p>
          <a:p>
            <a:pPr>
              <a:spcAft>
                <a:spcPts val="1100"/>
              </a:spcAft>
              <a:defRPr sz="1700">
                <a:solidFill>
                  <a:srgbClr val="F6F0E0"/>
                </a:solidFill>
                <a:latin typeface="Aptos"/>
              </a:defRPr>
            </a:pPr>
            <a:r>
              <a:t>Text and semantic/vector search</a:t>
            </a:r>
          </a:p>
          <a:p>
            <a:pPr>
              <a:spcAft>
                <a:spcPts val="1100"/>
              </a:spcAft>
              <a:defRPr sz="1700">
                <a:solidFill>
                  <a:srgbClr val="F6F0E0"/>
                </a:solidFill>
                <a:latin typeface="Aptos"/>
              </a:defRPr>
            </a:pPr>
            <a:r>
              <a:t>Retrieval and embeddings/indexing</a:t>
            </a:r>
          </a:p>
          <a:p>
            <a:pPr>
              <a:spcAft>
                <a:spcPts val="1100"/>
              </a:spcAft>
              <a:defRPr sz="1700">
                <a:solidFill>
                  <a:srgbClr val="F6F0E0"/>
                </a:solidFill>
                <a:latin typeface="Aptos"/>
              </a:defRPr>
            </a:pPr>
            <a:r>
              <a:t>Explanations connected to current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A 68-second journey from page to assisted 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6F0E0"/>
                </a:solidFill>
                <a:latin typeface="Aptos"/>
              </a:rPr>
              <a:t>The recording shows the real iPhone experience: open a book, stay with the page, listen, and keep moving.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4572000" cy="123444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38728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B99358"/>
                </a:solidFill>
                <a:latin typeface="Aptos"/>
              </a:rPr>
              <a:t>WATCH THE RECORDING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59352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[Insert public demo-video link]</a:t>
            </a:r>
          </a:p>
        </p:txBody>
      </p:sp>
      <p:pic>
        <p:nvPicPr>
          <p:cNvPr id="12" name="Picture 11" descr="rishi-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210538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FROM BOOK TO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Turn reading into an active learning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3035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F6F0E0"/>
                </a:solidFill>
                <a:latin typeface="Aptos"/>
              </a:rPr>
              <a:t>Choose a book  →  Read and listen  →  Ask for an explanation
Search and revisit  →  Highlight and bookmark the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77639"/>
            <a:ext cx="50292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A4B9C6"/>
                </a:solidFill>
                <a:latin typeface="Aptos"/>
              </a:rPr>
              <a:t>The product brings the teacher, the page, and the voice into one continuous experience.</a:t>
            </a:r>
          </a:p>
        </p:txBody>
      </p:sp>
      <p:pic>
        <p:nvPicPr>
          <p:cNvPr id="10" name="Picture 9" descr="Simulator Screenshot - iPhone 12 Pro Max - 2026-07-25 at 12.17.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200753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Win Apple first. Expand from a position of strength.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57784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6F0E0"/>
                </a:solidFill>
                <a:latin typeface="Aptos"/>
              </a:rPr>
              <a:t>Rishi’s first ecosystem is Apple: iPhone for everyday learning, iPad for deeper reading, and App Store distribution for a focused launch.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3246120" cy="141732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38728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59352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iPhone
App Store launch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337560"/>
            <a:ext cx="3246120" cy="141732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538728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59352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iPad
Long-form reading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337560"/>
            <a:ext cx="3246120" cy="141732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538728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959352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Other platforms
After Apple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4B9C6"/>
                </a:solidFill>
                <a:latin typeface="Aptos"/>
              </a:rPr>
              <a:t>[Add exact App Store status and date]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We are pre-revenue. Launch is where the learning begins.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6400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6F0E0"/>
                </a:solidFill>
                <a:latin typeface="Aptos"/>
              </a:rPr>
              <a:t>We do not yet have meaningful usage or validation metrics. At launch, we will establish baselines for: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2606040" cy="146304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64408"/>
            <a:ext cx="2148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85032"/>
            <a:ext cx="21488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Activation
and books imported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063240"/>
            <a:ext cx="2606040" cy="146304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3264408"/>
            <a:ext cx="2148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685032"/>
            <a:ext cx="21488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Reading and
listening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63240"/>
            <a:ext cx="2606040" cy="146304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64408"/>
            <a:ext cx="2148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85032"/>
            <a:ext cx="21488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AI questions
and explanations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063240"/>
            <a:ext cx="2103120" cy="146304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3264408"/>
            <a:ext cx="16459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685032"/>
            <a:ext cx="1645919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Retention and
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WHY RISHI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Knowledge should feel less solitary—and Apple is the right first home.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669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6F0E0"/>
                </a:solidFill>
                <a:latin typeface="Aptos"/>
              </a:rPr>
              <a:t>Conversational AI can make the act of learning feel guided, responsive, and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5486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>
                <a:solidFill>
                  <a:srgbClr val="A4B9C6"/>
                </a:solidFill>
                <a:latin typeface="Aptos"/>
              </a:rPr>
              <a:t>Rishi brings that guidance directly into the book—so the learner can ask, listen, revisit, and understand in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74519"/>
            <a:ext cx="4251960" cy="155448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075688"/>
            <a:ext cx="3794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29EC7"/>
                </a:solidFill>
                <a:latin typeface="Aptos"/>
              </a:rPr>
              <a:t>APPLE-FIRST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496312"/>
            <a:ext cx="3794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A coherent iPhone + iPad reading experience, shipped and refined before expanding.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749039"/>
            <a:ext cx="4251960" cy="123444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50207"/>
            <a:ext cx="3794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B99358"/>
                </a:solidFill>
                <a:latin typeface="Aptos"/>
              </a:rPr>
              <a:t>FOUNDER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70831"/>
            <a:ext cx="3794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[Add founder story and location]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hi-ic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29EC7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F6F0E0"/>
                </a:solidFill>
                <a:latin typeface="Aptos Display"/>
              </a:rPr>
              <a:t>Help us make understanding easier for anyone with a 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29184" cy="54864"/>
          </a:xfrm>
          <a:prstGeom prst="rect">
            <a:avLst/>
          </a:prstGeom>
          <a:solidFill>
            <a:srgbClr val="629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29EC7"/>
                </a:solidFill>
                <a:latin typeface="Aptos"/>
              </a:rPr>
              <a:t>RISHI  •  GOOGLE AI LAB  •  FIRST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A4B9C6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64008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300" b="1">
                <a:solidFill>
                  <a:srgbClr val="F6F0E0"/>
                </a:solidFill>
                <a:latin typeface="Aptos"/>
              </a:rPr>
              <a:t>We are seeking support to turn a launch-ready prototype into a reliable daily learning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585216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6F0E0"/>
                </a:solidFill>
                <a:latin typeface="Aptos"/>
              </a:defRPr>
            </a:pPr>
            <a:r>
              <a:t>AI product and model guidance</a:t>
            </a:r>
          </a:p>
          <a:p>
            <a:pPr>
              <a:spcAft>
                <a:spcPts val="1100"/>
              </a:spcAft>
              <a:defRPr sz="1800">
                <a:solidFill>
                  <a:srgbClr val="F6F0E0"/>
                </a:solidFill>
                <a:latin typeface="Aptos"/>
              </a:defRPr>
            </a:pPr>
            <a:r>
              <a:t>Evaluation expertise for explanations and grounded answers</a:t>
            </a:r>
          </a:p>
          <a:p>
            <a:pPr>
              <a:spcAft>
                <a:spcPts val="1100"/>
              </a:spcAft>
              <a:defRPr sz="1800">
                <a:solidFill>
                  <a:srgbClr val="F6F0E0"/>
                </a:solidFill>
                <a:latin typeface="Aptos"/>
              </a:defRPr>
            </a:pPr>
            <a:r>
              <a:t>Launch mentorship and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23160"/>
            <a:ext cx="3840480" cy="1783080"/>
          </a:xfrm>
          <a:prstGeom prst="roundRect">
            <a:avLst/>
          </a:prstGeom>
          <a:solidFill>
            <a:srgbClr val="162B3D"/>
          </a:solidFill>
          <a:ln>
            <a:solidFill>
              <a:srgbClr val="27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62432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B99358"/>
                </a:solidFill>
                <a:latin typeface="Aptos"/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044952"/>
            <a:ext cx="338328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6F0E0"/>
                </a:solidFill>
                <a:latin typeface="Aptos"/>
              </a:rPr>
              <a:t>[Refine the specific Google AI Lab request]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